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4" r:id="rId1"/>
  </p:sldMasterIdLst>
  <p:notesMasterIdLst>
    <p:notesMasterId r:id="rId25"/>
  </p:notesMasterIdLst>
  <p:sldIdLst>
    <p:sldId id="256" r:id="rId2"/>
    <p:sldId id="257" r:id="rId3"/>
    <p:sldId id="258" r:id="rId4"/>
    <p:sldId id="293" r:id="rId5"/>
    <p:sldId id="339" r:id="rId6"/>
    <p:sldId id="340" r:id="rId7"/>
    <p:sldId id="341" r:id="rId8"/>
    <p:sldId id="356" r:id="rId9"/>
    <p:sldId id="342" r:id="rId10"/>
    <p:sldId id="343" r:id="rId11"/>
    <p:sldId id="355" r:id="rId12"/>
    <p:sldId id="344" r:id="rId13"/>
    <p:sldId id="345" r:id="rId14"/>
    <p:sldId id="346" r:id="rId15"/>
    <p:sldId id="347" r:id="rId16"/>
    <p:sldId id="348" r:id="rId17"/>
    <p:sldId id="349" r:id="rId18"/>
    <p:sldId id="354" r:id="rId19"/>
    <p:sldId id="350" r:id="rId20"/>
    <p:sldId id="351" r:id="rId21"/>
    <p:sldId id="352" r:id="rId22"/>
    <p:sldId id="353" r:id="rId23"/>
    <p:sldId id="357" r:id="rId24"/>
  </p:sldIdLst>
  <p:sldSz cx="18288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90850" autoAdjust="0"/>
  </p:normalViewPr>
  <p:slideViewPr>
    <p:cSldViewPr snapToGrid="0">
      <p:cViewPr>
        <p:scale>
          <a:sx n="50" d="100"/>
          <a:sy n="50" d="100"/>
        </p:scale>
        <p:origin x="365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42900" y="1143000"/>
            <a:ext cx="6172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01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321742723b_2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321742723b_2_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1321742723b_2_1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2286000" y="1496483"/>
            <a:ext cx="13716000" cy="381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6000"/>
              <a:buFont typeface="Calibri"/>
              <a:buNone/>
              <a:defRPr sz="8000">
                <a:solidFill>
                  <a:srgbClr val="1F386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ubTitle" idx="1"/>
          </p:nvPr>
        </p:nvSpPr>
        <p:spPr>
          <a:xfrm>
            <a:off x="2286000" y="5422899"/>
            <a:ext cx="13716000" cy="15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0"/>
            </a:lvl1pPr>
            <a:lvl2pPr lvl="1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/>
            </a:lvl2pPr>
            <a:lvl3pPr lvl="2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4pPr>
            <a:lvl5pPr lvl="4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5pPr>
            <a:lvl6pPr lvl="5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6pPr>
            <a:lvl7pPr lvl="6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7pPr>
            <a:lvl8pPr lvl="7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8pPr>
            <a:lvl9pPr lvl="8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9pPr>
          </a:lstStyle>
          <a:p>
            <a:endParaRPr/>
          </a:p>
        </p:txBody>
      </p:sp>
      <p:pic>
        <p:nvPicPr>
          <p:cNvPr id="26" name="Google Shape;26;p2" descr="A picture containing drawing, foo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8600" y="304802"/>
            <a:ext cx="968433" cy="719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267310" y="2303180"/>
            <a:ext cx="16763393" cy="598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just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1pPr>
            <a:lvl2pPr marL="1219170" lvl="1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2pPr>
            <a:lvl3pPr marL="1828754" lvl="2" indent="-440256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3pPr>
            <a:lvl4pPr marL="2438339" lvl="3" indent="-423323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7"/>
            </a:lvl4pPr>
            <a:lvl5pPr marL="3047924" lvl="4" indent="-40639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5pPr>
            <a:lvl6pPr marL="3657509" lvl="5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260346" y="334520"/>
            <a:ext cx="16770354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  <a:defRPr>
                <a:solidFill>
                  <a:srgbClr val="1F386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dt" idx="10"/>
          </p:nvPr>
        </p:nvSpPr>
        <p:spPr>
          <a:xfrm>
            <a:off x="13732527" y="8489314"/>
            <a:ext cx="201370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ftr" idx="11"/>
          </p:nvPr>
        </p:nvSpPr>
        <p:spPr>
          <a:xfrm>
            <a:off x="4755477" y="8475136"/>
            <a:ext cx="859796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16002002" y="8475136"/>
            <a:ext cx="1028699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‹#›</a:t>
            </a:fld>
            <a:endParaRPr/>
          </a:p>
        </p:txBody>
      </p:sp>
      <p:pic>
        <p:nvPicPr>
          <p:cNvPr id="33" name="Google Shape;3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27160" y="2077540"/>
            <a:ext cx="7085172" cy="83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260346" y="334520"/>
            <a:ext cx="16770354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1257300" y="2434167"/>
            <a:ext cx="7772400" cy="5801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2"/>
          </p:nvPr>
        </p:nvSpPr>
        <p:spPr>
          <a:xfrm>
            <a:off x="9258300" y="2434167"/>
            <a:ext cx="7772400" cy="5801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dt" idx="10"/>
          </p:nvPr>
        </p:nvSpPr>
        <p:spPr>
          <a:xfrm>
            <a:off x="13732527" y="8489314"/>
            <a:ext cx="201370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ftr" idx="11"/>
          </p:nvPr>
        </p:nvSpPr>
        <p:spPr>
          <a:xfrm>
            <a:off x="4755477" y="8475136"/>
            <a:ext cx="859796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16002002" y="8475136"/>
            <a:ext cx="1028699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1" name="Google Shape;4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27160" y="2077540"/>
            <a:ext cx="7085172" cy="83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1259682" y="486836"/>
            <a:ext cx="15773400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259684" y="2241552"/>
            <a:ext cx="7736681" cy="109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1259684" y="3340100"/>
            <a:ext cx="7736681" cy="491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9258300" y="2241552"/>
            <a:ext cx="7774782" cy="109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9258300" y="3340100"/>
            <a:ext cx="7774782" cy="491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dt" idx="10"/>
          </p:nvPr>
        </p:nvSpPr>
        <p:spPr>
          <a:xfrm>
            <a:off x="13732527" y="8489314"/>
            <a:ext cx="201370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ftr" idx="11"/>
          </p:nvPr>
        </p:nvSpPr>
        <p:spPr>
          <a:xfrm>
            <a:off x="4755477" y="8475136"/>
            <a:ext cx="859796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ldNum" idx="12"/>
          </p:nvPr>
        </p:nvSpPr>
        <p:spPr>
          <a:xfrm>
            <a:off x="16002002" y="8475136"/>
            <a:ext cx="1028699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1" name="Google Shape;51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27160" y="2158135"/>
            <a:ext cx="7085172" cy="83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>
            <a:spLocks noGrp="1"/>
          </p:cNvSpPr>
          <p:nvPr>
            <p:ph type="dt" idx="10"/>
          </p:nvPr>
        </p:nvSpPr>
        <p:spPr>
          <a:xfrm>
            <a:off x="13732527" y="8489314"/>
            <a:ext cx="201370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ftr" idx="11"/>
          </p:nvPr>
        </p:nvSpPr>
        <p:spPr>
          <a:xfrm>
            <a:off x="4755477" y="8475136"/>
            <a:ext cx="859796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12"/>
          </p:nvPr>
        </p:nvSpPr>
        <p:spPr>
          <a:xfrm>
            <a:off x="16002002" y="8475136"/>
            <a:ext cx="1028699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27160" y="2077540"/>
            <a:ext cx="7085172" cy="83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A picture containing street, person, riding, lamp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 t="7812" b="7813"/>
          <a:stretch/>
        </p:blipFill>
        <p:spPr>
          <a:xfrm>
            <a:off x="0" y="2285"/>
            <a:ext cx="18283428" cy="914171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-123315" y="-2285"/>
            <a:ext cx="18155540" cy="9146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7000">
                <a:srgbClr val="FFFFFF">
                  <a:alpha val="9803"/>
                </a:srgbClr>
              </a:gs>
              <a:gs pos="80000">
                <a:srgbClr val="FFFFFF">
                  <a:alpha val="84705"/>
                </a:srgbClr>
              </a:gs>
              <a:gs pos="100000">
                <a:srgbClr val="FFFFFF">
                  <a:alpha val="84705"/>
                </a:srgbClr>
              </a:gs>
            </a:gsLst>
            <a:lin ang="1080000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260346" y="334520"/>
            <a:ext cx="16770354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267310" y="2303180"/>
            <a:ext cx="16763393" cy="598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13732527" y="8489314"/>
            <a:ext cx="201370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4755477" y="8475136"/>
            <a:ext cx="8597961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16002002" y="8475136"/>
            <a:ext cx="1028699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‹#›</a:t>
            </a:fld>
            <a:endParaRPr/>
          </a:p>
        </p:txBody>
      </p:sp>
      <p:grpSp>
        <p:nvGrpSpPr>
          <p:cNvPr id="17" name="Google Shape;17;p1"/>
          <p:cNvGrpSpPr/>
          <p:nvPr/>
        </p:nvGrpSpPr>
        <p:grpSpPr>
          <a:xfrm>
            <a:off x="18032226" y="-2285"/>
            <a:ext cx="251202" cy="9144000"/>
            <a:chOff x="12021484" y="-1714"/>
            <a:chExt cx="167468" cy="6858000"/>
          </a:xfrm>
        </p:grpSpPr>
        <p:sp>
          <p:nvSpPr>
            <p:cNvPr id="18" name="Google Shape;18;p1"/>
            <p:cNvSpPr/>
            <p:nvPr/>
          </p:nvSpPr>
          <p:spPr>
            <a:xfrm>
              <a:off x="12106742" y="-1714"/>
              <a:ext cx="82210" cy="6858000"/>
            </a:xfrm>
            <a:prstGeom prst="rect">
              <a:avLst/>
            </a:prstGeom>
            <a:solidFill>
              <a:srgbClr val="232D82"/>
            </a:solidFill>
            <a:ln w="12700" cap="flat" cmpd="sng">
              <a:solidFill>
                <a:srgbClr val="232D8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12021484" y="-1714"/>
              <a:ext cx="82210" cy="6858000"/>
            </a:xfrm>
            <a:prstGeom prst="rect">
              <a:avLst/>
            </a:prstGeom>
            <a:solidFill>
              <a:srgbClr val="DA1820"/>
            </a:solidFill>
            <a:ln w="12700" cap="flat" cmpd="sng">
              <a:solidFill>
                <a:srgbClr val="DA182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" name="Google Shape;20;p1" descr="A picture containing drawing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0348" y="8455370"/>
            <a:ext cx="696818" cy="609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 descr="A picture containing drawing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12940" y="8434823"/>
            <a:ext cx="1728566" cy="446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 descr="A close up of a sign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198152" y="8455370"/>
            <a:ext cx="1301550" cy="47609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6" userDrawn="1">
          <p15:clr>
            <a:srgbClr val="F26B43"/>
          </p15:clr>
        </p15:guide>
        <p15:guide id="2" pos="10728" userDrawn="1">
          <p15:clr>
            <a:srgbClr val="F26B43"/>
          </p15:clr>
        </p15:guide>
        <p15:guide id="3" orient="horz" pos="5664" userDrawn="1">
          <p15:clr>
            <a:srgbClr val="F26B43"/>
          </p15:clr>
        </p15:guide>
        <p15:guide id="4" pos="108" userDrawn="1">
          <p15:clr>
            <a:srgbClr val="F26B43"/>
          </p15:clr>
        </p15:guide>
        <p15:guide id="5" pos="144" userDrawn="1">
          <p15:clr>
            <a:srgbClr val="F26B43"/>
          </p15:clr>
        </p15:guide>
        <p15:guide id="6" orient="horz" pos="192" userDrawn="1">
          <p15:clr>
            <a:srgbClr val="F26B43"/>
          </p15:clr>
        </p15:guide>
        <p15:guide id="7" orient="horz" pos="1344" userDrawn="1">
          <p15:clr>
            <a:srgbClr val="F26B43"/>
          </p15:clr>
        </p15:guide>
        <p15:guide id="8" orient="horz" pos="1440" userDrawn="1">
          <p15:clr>
            <a:srgbClr val="F26B43"/>
          </p15:clr>
        </p15:guide>
        <p15:guide id="9" orient="horz" pos="5216" userDrawn="1">
          <p15:clr>
            <a:srgbClr val="F26B43"/>
          </p15:clr>
        </p15:guide>
        <p15:guide id="10" pos="10080" userDrawn="1">
          <p15:clr>
            <a:srgbClr val="F26B43"/>
          </p15:clr>
        </p15:guide>
        <p15:guide id="11" pos="9936" userDrawn="1">
          <p15:clr>
            <a:srgbClr val="F26B43"/>
          </p15:clr>
        </p15:guide>
        <p15:guide id="12" pos="8856" userDrawn="1">
          <p15:clr>
            <a:srgbClr val="F26B43"/>
          </p15:clr>
        </p15:guide>
        <p15:guide id="13" orient="horz" pos="5312" userDrawn="1">
          <p15:clr>
            <a:srgbClr val="F26B43"/>
          </p15:clr>
        </p15:guide>
        <p15:guide id="14" pos="86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/>
        </p:nvSpPr>
        <p:spPr>
          <a:xfrm>
            <a:off x="2926080" y="2908611"/>
            <a:ext cx="11399520" cy="1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80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Edge Detection</a:t>
            </a:r>
            <a:endParaRPr sz="8000" b="1" dirty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 txBox="1"/>
          <p:nvPr/>
        </p:nvSpPr>
        <p:spPr>
          <a:xfrm>
            <a:off x="3261644" y="5462977"/>
            <a:ext cx="11144400" cy="3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400" dirty="0">
                <a:latin typeface="Calibri"/>
                <a:ea typeface="Calibri"/>
                <a:cs typeface="Calibri"/>
                <a:sym typeface="Calibri"/>
              </a:rPr>
              <a:t>Computer Vision</a:t>
            </a:r>
            <a:endParaRPr sz="4000" dirty="0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spcBef>
                <a:spcPts val="1333"/>
              </a:spcBef>
            </a:pPr>
            <a:r>
              <a:rPr lang="en-US" sz="4400" dirty="0">
                <a:latin typeface="Calibri"/>
                <a:ea typeface="Calibri"/>
                <a:cs typeface="Calibri"/>
                <a:sym typeface="Calibri"/>
              </a:rPr>
              <a:t>Week 5</a:t>
            </a:r>
            <a:endParaRPr sz="4000" dirty="0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spcBef>
                <a:spcPts val="1333"/>
              </a:spcBef>
            </a:pPr>
            <a:endParaRPr sz="4400" dirty="0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spcBef>
                <a:spcPts val="1333"/>
              </a:spcBef>
            </a:pPr>
            <a:endParaRPr sz="4000" dirty="0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spcBef>
                <a:spcPts val="1333"/>
              </a:spcBef>
            </a:pPr>
            <a:endParaRPr sz="44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 rotWithShape="1">
          <a:blip r:embed="rId3">
            <a:alphaModFix/>
          </a:blip>
          <a:srcRect b="14118"/>
          <a:stretch/>
        </p:blipFill>
        <p:spPr>
          <a:xfrm>
            <a:off x="3411021" y="1681900"/>
            <a:ext cx="11465967" cy="578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131690" y="2607981"/>
            <a:ext cx="14900793" cy="598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rmAutofit/>
          </a:bodyPr>
          <a:lstStyle/>
          <a:p>
            <a:r>
              <a:rPr lang="en-US" sz="3200" dirty="0"/>
              <a:t>Understand the concept of edges and image gradients in images. </a:t>
            </a:r>
          </a:p>
          <a:p>
            <a:r>
              <a:rPr lang="en-US" sz="3200" dirty="0"/>
              <a:t>Apply first and second derivatives to detect edges mathematically. </a:t>
            </a:r>
          </a:p>
          <a:p>
            <a:r>
              <a:rPr lang="en-US" sz="3200" dirty="0"/>
              <a:t>Use Sobel and Prewitt operators and compare their performance. </a:t>
            </a:r>
          </a:p>
          <a:p>
            <a:r>
              <a:rPr lang="en-US" sz="3200" dirty="0"/>
              <a:t>Explain and implement the steps of the Canny edge detector. </a:t>
            </a:r>
          </a:p>
          <a:p>
            <a:r>
              <a:rPr lang="en-US" sz="3200" dirty="0"/>
              <a:t>Analyze the impact of scale and thresholding in edge detection results. </a:t>
            </a: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247419" y="334521"/>
            <a:ext cx="14906981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rmAutofit/>
          </a:bodyPr>
          <a:lstStyle/>
          <a:p>
            <a:r>
              <a:rPr lang="en-US" dirty="0"/>
              <a:t>Learning Outcomes </a:t>
            </a:r>
            <a:endParaRPr dirty="0"/>
          </a:p>
        </p:txBody>
      </p:sp>
      <p:sp>
        <p:nvSpPr>
          <p:cNvPr id="81" name="Google Shape;81;p10"/>
          <p:cNvSpPr txBox="1">
            <a:spLocks noGrp="1"/>
          </p:cNvSpPr>
          <p:nvPr>
            <p:ph type="dt" idx="10"/>
          </p:nvPr>
        </p:nvSpPr>
        <p:spPr>
          <a:xfrm>
            <a:off x="13222693" y="8489316"/>
            <a:ext cx="1789956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-US"/>
              <a:t>July 29, 2020</a:t>
            </a:r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15240003" y="8475137"/>
            <a:ext cx="914399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-US"/>
              <a:t>|   </a:t>
            </a:r>
            <a:fld id="{00000000-1234-1234-1234-123412341234}" type="slidenum">
              <a:rPr lang="en-US"/>
              <a:pPr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A58C1-3598-FA67-FB2F-CE6FD4BC2F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4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920C49-0629-2AF8-3AC4-688A01EF7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3AAF244-45E1-8C29-943C-FED7F838FD5F}"/>
              </a:ext>
            </a:extLst>
          </p:cNvPr>
          <p:cNvSpPr/>
          <p:nvPr/>
        </p:nvSpPr>
        <p:spPr>
          <a:xfrm>
            <a:off x="13938069" y="91440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DCF101B6-77A7-9AE6-11A6-29EF3CD45729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  <p:sp>
        <p:nvSpPr>
          <p:cNvPr id="2" name="Google Shape;129;p14">
            <a:extLst>
              <a:ext uri="{FF2B5EF4-FFF2-40B4-BE49-F238E27FC236}">
                <a16:creationId xmlns:a16="http://schemas.microsoft.com/office/drawing/2014/main" id="{06C26A53-CBE8-B1A4-183C-E1C44383A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12" y="1200230"/>
            <a:ext cx="4386667" cy="1018133"/>
          </a:xfrm>
          <a:prstGeom prst="rect">
            <a:avLst/>
          </a:prstGeom>
        </p:spPr>
        <p:txBody>
          <a:bodyPr spcFirstLastPara="1" wrap="square" lIns="162533" tIns="162533" rIns="162533" bIns="162533" anchor="t" anchorCtr="0">
            <a:normAutofit/>
          </a:bodyPr>
          <a:lstStyle/>
          <a:p>
            <a:r>
              <a:rPr lang="en-GB" dirty="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What is an Edge?</a:t>
            </a:r>
            <a:endParaRPr dirty="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CC6D28-FBCC-5A48-9B30-B48988C5E18B}"/>
              </a:ext>
            </a:extLst>
          </p:cNvPr>
          <p:cNvSpPr txBox="1"/>
          <p:nvPr/>
        </p:nvSpPr>
        <p:spPr>
          <a:xfrm>
            <a:off x="342912" y="3133827"/>
            <a:ext cx="5471733" cy="1067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An edge is a location in an image where pixel intensity changes </a:t>
            </a:r>
            <a:r>
              <a:rPr lang="en-US" sz="2400" b="1" dirty="0">
                <a:solidFill>
                  <a:schemeClr val="tx1"/>
                </a:solidFill>
              </a:rPr>
              <a:t>rapidly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5E2484AD-2B14-523B-AA56-41FEC844AC8D}"/>
              </a:ext>
            </a:extLst>
          </p:cNvPr>
          <p:cNvSpPr/>
          <p:nvPr/>
        </p:nvSpPr>
        <p:spPr>
          <a:xfrm>
            <a:off x="342912" y="4640857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Edges arise from: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00CE55F5-CAD3-E9F4-FB9E-9E4C6E2C0E3E}"/>
              </a:ext>
            </a:extLst>
          </p:cNvPr>
          <p:cNvSpPr/>
          <p:nvPr/>
        </p:nvSpPr>
        <p:spPr>
          <a:xfrm>
            <a:off x="342912" y="2534895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Definition: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405F1D1B-D863-57E1-627C-9EFB829471B0}"/>
              </a:ext>
            </a:extLst>
          </p:cNvPr>
          <p:cNvSpPr/>
          <p:nvPr/>
        </p:nvSpPr>
        <p:spPr>
          <a:xfrm>
            <a:off x="7002397" y="2534895"/>
            <a:ext cx="6307807" cy="5085105"/>
          </a:xfrm>
          <a:prstGeom prst="rect">
            <a:avLst/>
          </a:prstGeom>
          <a:solidFill>
            <a:srgbClr val="F5F5F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7C2C447-3C8C-FD6A-4F75-0428EE759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265" y="2699549"/>
            <a:ext cx="5608055" cy="4877364"/>
          </a:xfrm>
          <a:prstGeom prst="rect">
            <a:avLst/>
          </a:prstGeom>
        </p:spPr>
      </p:pic>
      <p:sp>
        <p:nvSpPr>
          <p:cNvPr id="22" name="Text 9">
            <a:extLst>
              <a:ext uri="{FF2B5EF4-FFF2-40B4-BE49-F238E27FC236}">
                <a16:creationId xmlns:a16="http://schemas.microsoft.com/office/drawing/2014/main" id="{74A8166B-6642-BC9E-73AE-E7E8228E5217}"/>
              </a:ext>
            </a:extLst>
          </p:cNvPr>
          <p:cNvSpPr/>
          <p:nvPr/>
        </p:nvSpPr>
        <p:spPr>
          <a:xfrm>
            <a:off x="342912" y="5292970"/>
            <a:ext cx="4274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333333"/>
                </a:solidFill>
              </a:rPr>
              <a:t>Surface discontinuities</a:t>
            </a:r>
            <a:endParaRPr lang="en-US" sz="24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FAD309C8-5DDD-DAF9-A23E-7A7AC71D322E}"/>
              </a:ext>
            </a:extLst>
          </p:cNvPr>
          <p:cNvSpPr/>
          <p:nvPr/>
        </p:nvSpPr>
        <p:spPr>
          <a:xfrm>
            <a:off x="342912" y="5849503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333333"/>
                </a:solidFill>
              </a:rPr>
              <a:t>Depth discontinuities</a:t>
            </a:r>
            <a:endParaRPr lang="en-US" sz="24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A93365A1-A774-F42D-1FCD-39926B911E4B}"/>
              </a:ext>
            </a:extLst>
          </p:cNvPr>
          <p:cNvSpPr/>
          <p:nvPr/>
        </p:nvSpPr>
        <p:spPr>
          <a:xfrm>
            <a:off x="342912" y="640603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333333"/>
                </a:solidFill>
              </a:rPr>
              <a:t>Illumination changes</a:t>
            </a:r>
            <a:endParaRPr lang="en-US" sz="24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139B29EB-D5FA-7BDB-97D4-F1D70A91DD53}"/>
              </a:ext>
            </a:extLst>
          </p:cNvPr>
          <p:cNvSpPr/>
          <p:nvPr/>
        </p:nvSpPr>
        <p:spPr>
          <a:xfrm>
            <a:off x="342912" y="6962569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333333"/>
                </a:solidFill>
              </a:rPr>
              <a:t>Texture boundaries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049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CEA642-5357-61D8-6D35-5A40AEE3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Gradient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BF524-4C6F-0897-0C2C-DC51D1DE52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5</a:t>
            </a:fld>
            <a:endParaRPr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765722E-5CD9-F985-2D71-AEE2EA4E558A}"/>
              </a:ext>
            </a:extLst>
          </p:cNvPr>
          <p:cNvSpPr/>
          <p:nvPr/>
        </p:nvSpPr>
        <p:spPr>
          <a:xfrm>
            <a:off x="260346" y="2682263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The gradient vector at pixel (x, y):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8B2FAC2D-1F0B-9636-9FDB-F958E76BF8B5}"/>
              </a:ext>
            </a:extLst>
          </p:cNvPr>
          <p:cNvSpPr/>
          <p:nvPr/>
        </p:nvSpPr>
        <p:spPr>
          <a:xfrm>
            <a:off x="516224" y="3334489"/>
            <a:ext cx="49015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∇I = [ ∂I/∂x ,  ∂I/∂y ]ᵀ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5D498C76-925E-73D0-49C1-ED506A344AEF}"/>
              </a:ext>
            </a:extLst>
          </p:cNvPr>
          <p:cNvSpPr/>
          <p:nvPr/>
        </p:nvSpPr>
        <p:spPr>
          <a:xfrm>
            <a:off x="863900" y="4234253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Gradient vector (direction of max increase)</a:t>
            </a: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29A8D50F-A73D-B37C-A6DB-DA0831341DBD}"/>
              </a:ext>
            </a:extLst>
          </p:cNvPr>
          <p:cNvSpPr/>
          <p:nvPr/>
        </p:nvSpPr>
        <p:spPr>
          <a:xfrm>
            <a:off x="481318" y="4678215"/>
            <a:ext cx="6361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|∇I| = √( (∂I/∂x)² + (∂I/∂y)² 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27E2341-14E2-78FE-E72B-A8F710DCAAC2}"/>
              </a:ext>
            </a:extLst>
          </p:cNvPr>
          <p:cNvSpPr/>
          <p:nvPr/>
        </p:nvSpPr>
        <p:spPr>
          <a:xfrm>
            <a:off x="498140" y="5567195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Gradient magnitude = edge strength</a:t>
            </a: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132D87C8-64D9-E6EA-FA48-4B98E86553CA}"/>
              </a:ext>
            </a:extLst>
          </p:cNvPr>
          <p:cNvSpPr/>
          <p:nvPr/>
        </p:nvSpPr>
        <p:spPr>
          <a:xfrm>
            <a:off x="498140" y="5969890"/>
            <a:ext cx="53587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= atan2( ∂I/∂y , ∂I/∂x 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2497D462-4FD8-046E-F93B-7547450062A5}"/>
              </a:ext>
            </a:extLst>
          </p:cNvPr>
          <p:cNvSpPr/>
          <p:nvPr/>
        </p:nvSpPr>
        <p:spPr>
          <a:xfrm>
            <a:off x="782010" y="6893623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Gradient direction = edge orientation</a:t>
            </a: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94086233-0D01-38B7-C5DA-20B3BDFCE57F}"/>
              </a:ext>
            </a:extLst>
          </p:cNvPr>
          <p:cNvSpPr/>
          <p:nvPr/>
        </p:nvSpPr>
        <p:spPr>
          <a:xfrm>
            <a:off x="8846817" y="249938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Properties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D62B4201-E05E-5938-DD4D-FF74AF8DC2C9}"/>
              </a:ext>
            </a:extLst>
          </p:cNvPr>
          <p:cNvSpPr/>
          <p:nvPr/>
        </p:nvSpPr>
        <p:spPr>
          <a:xfrm>
            <a:off x="7292337" y="3560257"/>
            <a:ext cx="1554480" cy="183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83446625-A121-0CA9-6703-FDB31073F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466777"/>
              </p:ext>
            </p:extLst>
          </p:nvPr>
        </p:nvGraphicFramePr>
        <p:xfrm>
          <a:off x="6938050" y="3334489"/>
          <a:ext cx="6361702" cy="4091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153">
                  <a:extLst>
                    <a:ext uri="{9D8B030D-6E8A-4147-A177-3AD203B41FA5}">
                      <a16:colId xmlns:a16="http://schemas.microsoft.com/office/drawing/2014/main" val="706020268"/>
                    </a:ext>
                  </a:extLst>
                </a:gridCol>
                <a:gridCol w="4807549">
                  <a:extLst>
                    <a:ext uri="{9D8B030D-6E8A-4147-A177-3AD203B41FA5}">
                      <a16:colId xmlns:a16="http://schemas.microsoft.com/office/drawing/2014/main" val="3205009860"/>
                    </a:ext>
                  </a:extLst>
                </a:gridCol>
              </a:tblGrid>
              <a:tr h="8910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∇I ⊥ edge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Gradient is perpendicular to the edge direction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423476"/>
                  </a:ext>
                </a:extLst>
              </a:tr>
              <a:tr h="8910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High |∇I|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Strong edges have large magnitude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441495"/>
                  </a:ext>
                </a:extLst>
              </a:tr>
              <a:tr h="8910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θ encodes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Angle tells us edge orientation (H/V/diagonal)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416638"/>
                  </a:ext>
                </a:extLst>
              </a:tr>
              <a:tr h="8910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Discrete ≈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Finite differences replace true derivatives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021984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E437D92B-6662-924D-3001-4CFBDC60F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DB3F883-8075-79BC-FF2C-A9CA3CFED2E3}"/>
              </a:ext>
            </a:extLst>
          </p:cNvPr>
          <p:cNvSpPr/>
          <p:nvPr/>
        </p:nvSpPr>
        <p:spPr>
          <a:xfrm>
            <a:off x="13938069" y="123444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02D2757D-D0FC-3AE9-A0CC-2811EF72B350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043873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FFF269-4D1A-438B-246C-1B2962EF7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Derivative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F3D77-2466-0E0F-E2A9-DC24101637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6</a:t>
            </a:fld>
            <a:endParaRPr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EF4440E-F2D8-3499-73FD-D887808379F8}"/>
              </a:ext>
            </a:extLst>
          </p:cNvPr>
          <p:cNvSpPr/>
          <p:nvPr/>
        </p:nvSpPr>
        <p:spPr>
          <a:xfrm>
            <a:off x="515884" y="1838125"/>
            <a:ext cx="869685" cy="101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03</a:t>
            </a:r>
            <a:endParaRPr lang="en-US" sz="32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3B52F352-DF33-0686-6A2F-1F9FCE539D5D}"/>
              </a:ext>
            </a:extLst>
          </p:cNvPr>
          <p:cNvSpPr/>
          <p:nvPr/>
        </p:nvSpPr>
        <p:spPr>
          <a:xfrm>
            <a:off x="515884" y="5343243"/>
            <a:ext cx="6142825" cy="82159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068C956-6F83-739D-BCA5-ED33F3B7B9EA}"/>
              </a:ext>
            </a:extLst>
          </p:cNvPr>
          <p:cNvSpPr/>
          <p:nvPr/>
        </p:nvSpPr>
        <p:spPr>
          <a:xfrm>
            <a:off x="607325" y="5343243"/>
            <a:ext cx="7024378" cy="821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First Derivative  dI/dx</a:t>
            </a:r>
            <a:endParaRPr lang="en-US" sz="32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EED7E73C-B83E-7161-140D-9CFD7306C22C}"/>
              </a:ext>
            </a:extLst>
          </p:cNvPr>
          <p:cNvSpPr/>
          <p:nvPr/>
        </p:nvSpPr>
        <p:spPr>
          <a:xfrm>
            <a:off x="515885" y="6174524"/>
            <a:ext cx="6142824" cy="1083842"/>
          </a:xfrm>
          <a:prstGeom prst="rect">
            <a:avLst/>
          </a:prstGeom>
          <a:solidFill>
            <a:srgbClr val="F5F5F5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01DC4C96-C300-51F5-D628-BD0361D787FC}"/>
              </a:ext>
            </a:extLst>
          </p:cNvPr>
          <p:cNvSpPr/>
          <p:nvPr/>
        </p:nvSpPr>
        <p:spPr>
          <a:xfrm>
            <a:off x="515884" y="5474780"/>
            <a:ext cx="83624" cy="140844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317A4298-003A-EE34-8C38-199F029133FC}"/>
              </a:ext>
            </a:extLst>
          </p:cNvPr>
          <p:cNvSpPr/>
          <p:nvPr/>
        </p:nvSpPr>
        <p:spPr>
          <a:xfrm>
            <a:off x="950726" y="5997665"/>
            <a:ext cx="7024378" cy="1408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dI/dx ≈ I(x+1) - I(x-1)</a:t>
            </a:r>
            <a:endParaRPr lang="en-US" sz="32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F2A8A02-79DA-77BF-15CA-2C8F1BC73C71}"/>
              </a:ext>
            </a:extLst>
          </p:cNvPr>
          <p:cNvSpPr/>
          <p:nvPr/>
        </p:nvSpPr>
        <p:spPr>
          <a:xfrm>
            <a:off x="0" y="7313726"/>
            <a:ext cx="7358873" cy="743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</a:rPr>
              <a:t>Edge = PEAK in |dI/dx|</a:t>
            </a:r>
            <a:endParaRPr lang="en-US" sz="28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D1F0B8C4-492F-46BF-E283-476EC977F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732" y="2682485"/>
            <a:ext cx="7124770" cy="331285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D1241ECD-25DC-46D6-B5C2-9904F5F55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102" y="6228264"/>
            <a:ext cx="6851940" cy="1309929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795079ED-354E-1181-9F2C-3150CDAF554F}"/>
              </a:ext>
            </a:extLst>
          </p:cNvPr>
          <p:cNvSpPr txBox="1"/>
          <p:nvPr/>
        </p:nvSpPr>
        <p:spPr>
          <a:xfrm>
            <a:off x="307627" y="2512506"/>
            <a:ext cx="92143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Definition</a:t>
            </a:r>
          </a:p>
          <a:p>
            <a:pPr>
              <a:buNone/>
            </a:pPr>
            <a:r>
              <a:rPr lang="en-US" sz="2400" dirty="0"/>
              <a:t>Measures </a:t>
            </a:r>
            <a:r>
              <a:rPr lang="en-US" sz="2400" b="1" dirty="0"/>
              <a:t>rate of intensity change</a:t>
            </a:r>
            <a:r>
              <a:rPr lang="en-US" sz="2400" dirty="0"/>
              <a:t>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87A3C5-25E6-A46A-D133-FB8BE3E536E8}"/>
              </a:ext>
            </a:extLst>
          </p:cNvPr>
          <p:cNvSpPr txBox="1"/>
          <p:nvPr/>
        </p:nvSpPr>
        <p:spPr>
          <a:xfrm>
            <a:off x="307627" y="3521471"/>
            <a:ext cx="9214338" cy="1333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Properties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Detects edges at </a:t>
            </a:r>
            <a:r>
              <a:rPr lang="en-US" b="1" dirty="0"/>
              <a:t>maximum gradient values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Less sensitive than second derivative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Widely used in 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1D98E0-B5E9-99FC-D153-0E5869E32D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2D5AC4B-ADB9-CE67-D34F-565D13CB3804}"/>
              </a:ext>
            </a:extLst>
          </p:cNvPr>
          <p:cNvSpPr/>
          <p:nvPr/>
        </p:nvSpPr>
        <p:spPr>
          <a:xfrm>
            <a:off x="13938069" y="182880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9D95AC0A-4996-A7DC-323E-6C573C8DBF7B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75671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52674D-C9B7-6987-9B92-572CFE3AF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Derivative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22D2A-CE86-7D49-4F55-58A60B03A5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7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25241F-E71B-6C73-D788-85BE086BB3E4}"/>
              </a:ext>
            </a:extLst>
          </p:cNvPr>
          <p:cNvSpPr txBox="1"/>
          <p:nvPr/>
        </p:nvSpPr>
        <p:spPr>
          <a:xfrm>
            <a:off x="402609" y="2543770"/>
            <a:ext cx="92122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Definition</a:t>
            </a:r>
          </a:p>
          <a:p>
            <a:pPr>
              <a:buNone/>
            </a:pPr>
            <a:r>
              <a:rPr lang="en-US" sz="2400" dirty="0"/>
              <a:t>Measures </a:t>
            </a:r>
            <a:r>
              <a:rPr lang="en-US" sz="2400" b="1" dirty="0"/>
              <a:t>rate of change of gradient</a:t>
            </a:r>
            <a:r>
              <a:rPr lang="en-US" sz="24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26E362-2D08-6EB2-D3E3-9D099ED8C8FF}"/>
              </a:ext>
            </a:extLst>
          </p:cNvPr>
          <p:cNvSpPr txBox="1"/>
          <p:nvPr/>
        </p:nvSpPr>
        <p:spPr>
          <a:xfrm>
            <a:off x="402609" y="3652925"/>
            <a:ext cx="9212238" cy="139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Properties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Detects edges at </a:t>
            </a:r>
            <a:r>
              <a:rPr lang="en-US" b="1" dirty="0"/>
              <a:t>zero-crossings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sensitive to noise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in Laplacian-based methods</a:t>
            </a:r>
          </a:p>
        </p:txBody>
      </p:sp>
      <p:sp>
        <p:nvSpPr>
          <p:cNvPr id="9" name="Shape 22">
            <a:extLst>
              <a:ext uri="{FF2B5EF4-FFF2-40B4-BE49-F238E27FC236}">
                <a16:creationId xmlns:a16="http://schemas.microsoft.com/office/drawing/2014/main" id="{9CEDA6E7-D9AC-64BD-8228-7D7601BC771D}"/>
              </a:ext>
            </a:extLst>
          </p:cNvPr>
          <p:cNvSpPr/>
          <p:nvPr/>
        </p:nvSpPr>
        <p:spPr>
          <a:xfrm>
            <a:off x="728790" y="5323387"/>
            <a:ext cx="5030564" cy="470607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0" name="Text 23">
            <a:extLst>
              <a:ext uri="{FF2B5EF4-FFF2-40B4-BE49-F238E27FC236}">
                <a16:creationId xmlns:a16="http://schemas.microsoft.com/office/drawing/2014/main" id="{F49B3A0C-AE74-41AF-6D49-024764F1939B}"/>
              </a:ext>
            </a:extLst>
          </p:cNvPr>
          <p:cNvSpPr/>
          <p:nvPr/>
        </p:nvSpPr>
        <p:spPr>
          <a:xfrm>
            <a:off x="820230" y="5418394"/>
            <a:ext cx="4461018" cy="37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Second Derivative  d²I/dx²</a:t>
            </a:r>
            <a:endParaRPr lang="en-US" sz="2400" dirty="0"/>
          </a:p>
        </p:txBody>
      </p:sp>
      <p:sp>
        <p:nvSpPr>
          <p:cNvPr id="11" name="Shape 24">
            <a:extLst>
              <a:ext uri="{FF2B5EF4-FFF2-40B4-BE49-F238E27FC236}">
                <a16:creationId xmlns:a16="http://schemas.microsoft.com/office/drawing/2014/main" id="{652BC059-5615-A987-C2A0-C733712E89E6}"/>
              </a:ext>
            </a:extLst>
          </p:cNvPr>
          <p:cNvSpPr/>
          <p:nvPr/>
        </p:nvSpPr>
        <p:spPr>
          <a:xfrm>
            <a:off x="728789" y="5875594"/>
            <a:ext cx="5030565" cy="643887"/>
          </a:xfrm>
          <a:prstGeom prst="rect">
            <a:avLst/>
          </a:prstGeom>
          <a:solidFill>
            <a:srgbClr val="F5F5F5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2" name="Text 26">
            <a:extLst>
              <a:ext uri="{FF2B5EF4-FFF2-40B4-BE49-F238E27FC236}">
                <a16:creationId xmlns:a16="http://schemas.microsoft.com/office/drawing/2014/main" id="{F8BB3CD0-5138-E8E1-3E6F-3E8E72611459}"/>
              </a:ext>
            </a:extLst>
          </p:cNvPr>
          <p:cNvSpPr/>
          <p:nvPr/>
        </p:nvSpPr>
        <p:spPr>
          <a:xfrm>
            <a:off x="856805" y="5875594"/>
            <a:ext cx="5639529" cy="643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d²I/dx² ≈ I(x+1) - 2I(x) + I(x-1)</a:t>
            </a:r>
            <a:endParaRPr lang="en-US" sz="2000" dirty="0"/>
          </a:p>
        </p:txBody>
      </p:sp>
      <p:sp>
        <p:nvSpPr>
          <p:cNvPr id="13" name="Text 27">
            <a:extLst>
              <a:ext uri="{FF2B5EF4-FFF2-40B4-BE49-F238E27FC236}">
                <a16:creationId xmlns:a16="http://schemas.microsoft.com/office/drawing/2014/main" id="{F641256B-6163-3C48-C57B-58C548706CD2}"/>
              </a:ext>
            </a:extLst>
          </p:cNvPr>
          <p:cNvSpPr/>
          <p:nvPr/>
        </p:nvSpPr>
        <p:spPr>
          <a:xfrm>
            <a:off x="820230" y="6825137"/>
            <a:ext cx="4673453" cy="3398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</a:rPr>
              <a:t>Edge = ZERO CROSSING of d²I/dx²</a:t>
            </a:r>
            <a:endParaRPr lang="en-US" sz="1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678937-FFEE-6901-8111-41591EE51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231" y="2541376"/>
            <a:ext cx="6965339" cy="36154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17B26CA-37E5-0DF8-AF86-56063A856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378" y="7164966"/>
            <a:ext cx="4927370" cy="96110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8E053BD-FD18-C47F-98EB-BCB471C5BC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567546-6E2C-E616-AF02-B53C815F6890}"/>
              </a:ext>
            </a:extLst>
          </p:cNvPr>
          <p:cNvSpPr/>
          <p:nvPr/>
        </p:nvSpPr>
        <p:spPr>
          <a:xfrm>
            <a:off x="13938069" y="211836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3304CCDF-9F3B-137D-7232-1FFDEE64152E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703574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CF2026-125C-896C-964C-38835DC0B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Vs 2</a:t>
            </a:r>
            <a:r>
              <a:rPr lang="en-US" baseline="30000" dirty="0"/>
              <a:t>nd</a:t>
            </a:r>
            <a:r>
              <a:rPr lang="en-US" dirty="0"/>
              <a:t> Derivative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BE4B8-7E7F-FF13-5771-217EBFE2AE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8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08F160-3B14-5EF7-0BBC-6605954C1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340814"/>
              </p:ext>
            </p:extLst>
          </p:nvPr>
        </p:nvGraphicFramePr>
        <p:xfrm>
          <a:off x="526009" y="2641815"/>
          <a:ext cx="12412071" cy="5082813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4137357">
                  <a:extLst>
                    <a:ext uri="{9D8B030D-6E8A-4147-A177-3AD203B41FA5}">
                      <a16:colId xmlns:a16="http://schemas.microsoft.com/office/drawing/2014/main" val="2071300923"/>
                    </a:ext>
                  </a:extLst>
                </a:gridCol>
                <a:gridCol w="4137357">
                  <a:extLst>
                    <a:ext uri="{9D8B030D-6E8A-4147-A177-3AD203B41FA5}">
                      <a16:colId xmlns:a16="http://schemas.microsoft.com/office/drawing/2014/main" val="1205192488"/>
                    </a:ext>
                  </a:extLst>
                </a:gridCol>
                <a:gridCol w="4137357">
                  <a:extLst>
                    <a:ext uri="{9D8B030D-6E8A-4147-A177-3AD203B41FA5}">
                      <a16:colId xmlns:a16="http://schemas.microsoft.com/office/drawing/2014/main" val="3942506420"/>
                    </a:ext>
                  </a:extLst>
                </a:gridCol>
              </a:tblGrid>
              <a:tr h="564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First Derivative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Second Derivative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2523527"/>
                  </a:ext>
                </a:extLst>
              </a:tr>
              <a:tr h="564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Meaning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Measures rate of intensity 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Measures rate of change of gradient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622609"/>
                  </a:ext>
                </a:extLst>
              </a:tr>
              <a:tr h="564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Detects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Edges (gradient magnitude)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Edge locations (zero-crossings)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464287"/>
                  </a:ext>
                </a:extLst>
              </a:tr>
              <a:tr h="564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Output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at edges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Zero at edge center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675290"/>
                  </a:ext>
                </a:extLst>
              </a:tr>
              <a:tr h="564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Direction Info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 (gives edge orientation)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direction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3549173"/>
                  </a:ext>
                </a:extLst>
              </a:tr>
              <a:tr h="564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Sensitivity to Noise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Less sensitive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More sensitive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808520"/>
                  </a:ext>
                </a:extLst>
              </a:tr>
              <a:tr h="564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Operators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Sobel, Prewitt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Laplacian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2211322"/>
                  </a:ext>
                </a:extLst>
              </a:tr>
              <a:tr h="564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Edge Thickness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Produces thicker edges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Produces thin edges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0678920"/>
                  </a:ext>
                </a:extLst>
              </a:tr>
              <a:tr h="564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Significance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Detects presence of edge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Pinpoints exact edge 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85607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77B09FD-84FF-FB63-6F73-A373D7547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F30211C-32D6-B456-08CA-AF0076F77BD5}"/>
              </a:ext>
            </a:extLst>
          </p:cNvPr>
          <p:cNvSpPr/>
          <p:nvPr/>
        </p:nvSpPr>
        <p:spPr>
          <a:xfrm>
            <a:off x="13938069" y="240792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DCA88962-EC28-5DEC-3756-B55DAEB48DB7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427030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90D7BE-5A1E-E35C-41DF-3BE82AF1A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Sobel Kernels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21539-2F82-B283-090D-BEECE8631C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9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86273F-FF99-39B0-6E09-ACB8CF5EF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206" y="3287348"/>
            <a:ext cx="4440771" cy="25693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429D6F-1792-2EA3-ADA7-9CEB67EF4D69}"/>
              </a:ext>
            </a:extLst>
          </p:cNvPr>
          <p:cNvSpPr txBox="1"/>
          <p:nvPr/>
        </p:nvSpPr>
        <p:spPr>
          <a:xfrm>
            <a:off x="433753" y="2454453"/>
            <a:ext cx="9214338" cy="102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Definition</a:t>
            </a:r>
          </a:p>
          <a:p>
            <a:pPr>
              <a:buNone/>
            </a:pPr>
            <a:r>
              <a:rPr lang="en-US" dirty="0"/>
              <a:t>A discrete differentiation operator that computes gradient using convolution kernels.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D7D319-1D82-9267-41C0-0690C0E09342}"/>
              </a:ext>
            </a:extLst>
          </p:cNvPr>
          <p:cNvSpPr txBox="1"/>
          <p:nvPr/>
        </p:nvSpPr>
        <p:spPr>
          <a:xfrm>
            <a:off x="806617" y="5975830"/>
            <a:ext cx="92143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</a:rPr>
              <a:t>Center row/col weighted ×2  →  built-in Gaussian smoothing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4D6A3D-07A2-C57C-92C9-DE8F1E94E3F1}"/>
              </a:ext>
            </a:extLst>
          </p:cNvPr>
          <p:cNvSpPr txBox="1"/>
          <p:nvPr/>
        </p:nvSpPr>
        <p:spPr>
          <a:xfrm>
            <a:off x="433753" y="6625906"/>
            <a:ext cx="9214338" cy="1333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Adds smoothing (via weights like 2)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noise-resistant than basic gradient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Detects edges in both directions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B43079-0B19-D914-6795-3E2848E21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105" y="4572000"/>
            <a:ext cx="5777018" cy="93645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4718DCC-D137-F3CF-7AC2-2BFFB6C77F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E8D3A36-D532-4613-3A32-4A121B1FD67F}"/>
              </a:ext>
            </a:extLst>
          </p:cNvPr>
          <p:cNvSpPr/>
          <p:nvPr/>
        </p:nvSpPr>
        <p:spPr>
          <a:xfrm>
            <a:off x="13938069" y="301752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CA40A928-440E-3611-4A3F-2756FDC4CDBC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56933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14C822-BB97-6462-7BC2-C54925B4B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Prewitt Operator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F3F16-AB94-B923-B235-CE63C28C15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10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C0B0FA-A581-1302-498D-681380B259D0}"/>
              </a:ext>
            </a:extLst>
          </p:cNvPr>
          <p:cNvSpPr txBox="1"/>
          <p:nvPr/>
        </p:nvSpPr>
        <p:spPr>
          <a:xfrm>
            <a:off x="402609" y="2475532"/>
            <a:ext cx="9212238" cy="712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Definition</a:t>
            </a:r>
          </a:p>
          <a:p>
            <a:pPr>
              <a:buNone/>
            </a:pPr>
            <a:r>
              <a:rPr lang="en-US" dirty="0"/>
              <a:t>A simpler gradient operator using uniform weights.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EE3EE2-48AC-6895-3A6A-11C3BF4BB047}"/>
              </a:ext>
            </a:extLst>
          </p:cNvPr>
          <p:cNvSpPr txBox="1"/>
          <p:nvPr/>
        </p:nvSpPr>
        <p:spPr>
          <a:xfrm>
            <a:off x="6614253" y="4269782"/>
            <a:ext cx="9214338" cy="1333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Simpler than Sobel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Less smoothing → more noise sensitive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computation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5E9B7A-761C-C388-59F1-C72900BD1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5" y="3561886"/>
            <a:ext cx="4779473" cy="2748978"/>
          </a:xfrm>
          <a:prstGeom prst="rect">
            <a:avLst/>
          </a:prstGeom>
        </p:spPr>
      </p:pic>
      <p:sp>
        <p:nvSpPr>
          <p:cNvPr id="11" name="Text 90">
            <a:extLst>
              <a:ext uri="{FF2B5EF4-FFF2-40B4-BE49-F238E27FC236}">
                <a16:creationId xmlns:a16="http://schemas.microsoft.com/office/drawing/2014/main" id="{5C967DA7-BC46-D734-8F31-A4C0A29EEE48}"/>
              </a:ext>
            </a:extLst>
          </p:cNvPr>
          <p:cNvSpPr/>
          <p:nvPr/>
        </p:nvSpPr>
        <p:spPr>
          <a:xfrm>
            <a:off x="958855" y="6684459"/>
            <a:ext cx="5137268" cy="248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Uniform weights  →  simpler, slightly more noise-sensitive</a:t>
            </a:r>
            <a:endParaRPr lang="en-US" sz="1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81B6ED-9D40-8651-3598-DD1B327F00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6934B01-45EC-2C98-24E6-54DFB609C8C9}"/>
              </a:ext>
            </a:extLst>
          </p:cNvPr>
          <p:cNvSpPr/>
          <p:nvPr/>
        </p:nvSpPr>
        <p:spPr>
          <a:xfrm>
            <a:off x="13938069" y="330708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21C2555A-EB8B-B9A7-FDDA-3D6D0DB0C6A2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522280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9D95E2-7065-B9DA-E73A-8832C97D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Sobel vs Prewitt Operator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C8981-1105-9926-A8DD-EB3F826090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11</a:t>
            </a:fld>
            <a:endParaRPr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6CB36A-2A46-D6BE-A213-097DF05213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237593"/>
              </p:ext>
            </p:extLst>
          </p:nvPr>
        </p:nvGraphicFramePr>
        <p:xfrm>
          <a:off x="498712" y="2691296"/>
          <a:ext cx="12425718" cy="470803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141906">
                  <a:extLst>
                    <a:ext uri="{9D8B030D-6E8A-4147-A177-3AD203B41FA5}">
                      <a16:colId xmlns:a16="http://schemas.microsoft.com/office/drawing/2014/main" val="2847599402"/>
                    </a:ext>
                  </a:extLst>
                </a:gridCol>
                <a:gridCol w="4141906">
                  <a:extLst>
                    <a:ext uri="{9D8B030D-6E8A-4147-A177-3AD203B41FA5}">
                      <a16:colId xmlns:a16="http://schemas.microsoft.com/office/drawing/2014/main" val="1466576933"/>
                    </a:ext>
                  </a:extLst>
                </a:gridCol>
                <a:gridCol w="4141906">
                  <a:extLst>
                    <a:ext uri="{9D8B030D-6E8A-4147-A177-3AD203B41FA5}">
                      <a16:colId xmlns:a16="http://schemas.microsoft.com/office/drawing/2014/main" val="176054841"/>
                    </a:ext>
                  </a:extLst>
                </a:gridCol>
              </a:tblGrid>
              <a:tr h="521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Sobel Operator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Prewitt Operator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6187653"/>
                  </a:ext>
                </a:extLst>
              </a:tr>
              <a:tr h="9166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Definition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Gradient-based edge detector with smoothing effect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Simple gradient-based edge detector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219064"/>
                  </a:ext>
                </a:extLst>
              </a:tr>
              <a:tr h="521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Kernel Weights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weighted center (2)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uniform weights 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8080086"/>
                  </a:ext>
                </a:extLst>
              </a:tr>
              <a:tr h="521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Noise Handling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Better (due to smoothing effect)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Worse (more sensitive to noise)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3898126"/>
                  </a:ext>
                </a:extLst>
              </a:tr>
              <a:tr h="521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Edge Detection Quality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More accurate and smoother edges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Less accurate compared to Sobel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6531987"/>
                  </a:ext>
                </a:extLst>
              </a:tr>
              <a:tr h="521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Computation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Slightly more complex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Simpler and faster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624038"/>
                  </a:ext>
                </a:extLst>
              </a:tr>
              <a:tr h="521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Weight Distribution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Gives more importance to central pixels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Treats all pixels equally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7969449"/>
                  </a:ext>
                </a:extLst>
              </a:tr>
              <a:tr h="521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Usage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Commonly used in 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for basic understanding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381347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6C998A4-E25F-A844-98C3-75CCE8570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1F0B12F-798F-C71D-34AD-296D5C1885FF}"/>
              </a:ext>
            </a:extLst>
          </p:cNvPr>
          <p:cNvSpPr/>
          <p:nvPr/>
        </p:nvSpPr>
        <p:spPr>
          <a:xfrm>
            <a:off x="13938069" y="359664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6ABBC5D-7249-4AE0-D003-AE55F7166638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830982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CCF99A-1EB4-9B25-D23A-1CCCD22DF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Canny Edge Detector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8BE70-111A-184A-3675-F9431D583C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12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F5D2F0-2A02-9A8D-1D0E-DB2B4015D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28" y="2662612"/>
            <a:ext cx="13319826" cy="44888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557DDD-DE75-7D3C-B5D6-85B845C09F74}"/>
              </a:ext>
            </a:extLst>
          </p:cNvPr>
          <p:cNvSpPr txBox="1"/>
          <p:nvPr/>
        </p:nvSpPr>
        <p:spPr>
          <a:xfrm>
            <a:off x="-225985" y="7481269"/>
            <a:ext cx="15251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563EB"/>
                </a:solidFill>
              </a:rPr>
              <a:t>Canny = Optimal Edge Detector under: good detection · good </a:t>
            </a:r>
            <a:r>
              <a:rPr lang="en-US" sz="2000" dirty="0" err="1">
                <a:solidFill>
                  <a:srgbClr val="2563EB"/>
                </a:solidFill>
              </a:rPr>
              <a:t>localisation</a:t>
            </a:r>
            <a:r>
              <a:rPr lang="en-US" sz="2000" dirty="0">
                <a:solidFill>
                  <a:srgbClr val="2563EB"/>
                </a:solidFill>
              </a:rPr>
              <a:t> · single response per edge</a:t>
            </a:r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42012E-6F44-372D-1EAA-54837E32DD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39169C9-7BAD-0FE6-DB9F-C7F76D9AE272}"/>
              </a:ext>
            </a:extLst>
          </p:cNvPr>
          <p:cNvSpPr/>
          <p:nvPr/>
        </p:nvSpPr>
        <p:spPr>
          <a:xfrm>
            <a:off x="13938069" y="419100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71C1FEAE-17CF-A3F7-385C-CD8C83DC42B2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588817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D7832A-2400-C070-D2F2-0B738618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Gaussian Smoothing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DBFA9-F3A5-8F3A-7F2C-90621782DC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13</a:t>
            </a:fld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45827B-819C-AD15-E219-EC53188AF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902" y="4138176"/>
            <a:ext cx="4395405" cy="230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7AA86A-6D7B-666E-008D-4ADAB56242A9}"/>
              </a:ext>
            </a:extLst>
          </p:cNvPr>
          <p:cNvSpPr txBox="1"/>
          <p:nvPr/>
        </p:nvSpPr>
        <p:spPr>
          <a:xfrm>
            <a:off x="571550" y="2353995"/>
            <a:ext cx="9227126" cy="102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Gaussian Smoothing (Gaussian Blur)</a:t>
            </a:r>
            <a:r>
              <a:rPr lang="en-US" dirty="0"/>
              <a:t> is a fundamental technique in image processing used to </a:t>
            </a:r>
            <a:r>
              <a:rPr lang="en-US" b="1" dirty="0"/>
              <a:t>reduce noise and detail</a:t>
            </a:r>
            <a:r>
              <a:rPr lang="en-US" dirty="0"/>
              <a:t> by smoothing an image using a Gaussian (normal distribution) function.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1D2A5F-B708-EEC8-F79A-50D7B236DD4C}"/>
              </a:ext>
            </a:extLst>
          </p:cNvPr>
          <p:cNvSpPr txBox="1"/>
          <p:nvPr/>
        </p:nvSpPr>
        <p:spPr>
          <a:xfrm>
            <a:off x="584338" y="3629025"/>
            <a:ext cx="9214338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2D Gaussian function is: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BDEE48-1974-1207-5A6D-85AED7A8FD6F}"/>
                  </a:ext>
                </a:extLst>
              </p:cNvPr>
              <p:cNvSpPr txBox="1"/>
              <p:nvPr/>
            </p:nvSpPr>
            <p:spPr>
              <a:xfrm>
                <a:off x="808892" y="6438896"/>
                <a:ext cx="9214338" cy="10229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 pixel coordinates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: standard deviation (controls the amount of smoothing)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BDEE48-1974-1207-5A6D-85AED7A8F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92" y="6438896"/>
                <a:ext cx="9214338" cy="1022972"/>
              </a:xfrm>
              <a:prstGeom prst="rect">
                <a:avLst/>
              </a:prstGeom>
              <a:blipFill>
                <a:blip r:embed="rId3"/>
                <a:stretch>
                  <a:fillRect l="-728" t="-2381" b="-10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81872FBE-ADFC-61E7-8CA4-25249846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D4C17F0-AA64-B6BB-D54E-9B11365ED502}"/>
              </a:ext>
            </a:extLst>
          </p:cNvPr>
          <p:cNvSpPr/>
          <p:nvPr/>
        </p:nvSpPr>
        <p:spPr>
          <a:xfrm>
            <a:off x="13938069" y="451104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E62EF3EF-2305-B6BE-E09B-84B1E7F95A09}"/>
              </a:ext>
            </a:extLst>
          </p:cNvPr>
          <p:cNvSpPr txBox="1"/>
          <p:nvPr/>
        </p:nvSpPr>
        <p:spPr>
          <a:xfrm>
            <a:off x="14039272" y="-7184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98700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96458A-F662-ED85-68F9-5310022A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Calculation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DB1C6-FCEB-1A8F-2BC3-6A41FDA53E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14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9D22A7-595A-F810-03C9-D1CF6DD91208}"/>
              </a:ext>
            </a:extLst>
          </p:cNvPr>
          <p:cNvSpPr txBox="1"/>
          <p:nvPr/>
        </p:nvSpPr>
        <p:spPr>
          <a:xfrm>
            <a:off x="433752" y="2468883"/>
            <a:ext cx="114065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Gradient calculation is used to </a:t>
            </a:r>
            <a:r>
              <a:rPr lang="en-US" sz="2400" b="1" dirty="0"/>
              <a:t>detect edges</a:t>
            </a:r>
            <a:r>
              <a:rPr lang="en-US" sz="2400" dirty="0"/>
              <a:t> by measuring how rapidly image intensity changes at each pixel.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E150A2-628D-E2E3-C0CB-D1F50DF2FCD1}"/>
              </a:ext>
            </a:extLst>
          </p:cNvPr>
          <p:cNvSpPr txBox="1"/>
          <p:nvPr/>
        </p:nvSpPr>
        <p:spPr>
          <a:xfrm>
            <a:off x="492370" y="4060455"/>
            <a:ext cx="9214338" cy="712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edge = </a:t>
            </a:r>
            <a:r>
              <a:rPr lang="en-US" b="1" dirty="0"/>
              <a:t>sudden change in intensity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Gradient measures this change in </a:t>
            </a:r>
            <a:r>
              <a:rPr lang="en-US" b="1" dirty="0"/>
              <a:t>x and y directions</a:t>
            </a:r>
            <a:r>
              <a:rPr lang="en-US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3909B4-1D50-6175-0230-19ED1ADAE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994" y="3299880"/>
            <a:ext cx="5039428" cy="46297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5F5EC8-D249-D3BA-BE7F-F2386080BA55}"/>
              </a:ext>
            </a:extLst>
          </p:cNvPr>
          <p:cNvSpPr txBox="1"/>
          <p:nvPr/>
        </p:nvSpPr>
        <p:spPr>
          <a:xfrm>
            <a:off x="492370" y="5614778"/>
            <a:ext cx="9214338" cy="102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Intuition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 gradient</a:t>
            </a:r>
            <a:r>
              <a:rPr lang="en-US" dirty="0"/>
              <a:t> → strong edge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Low gradient</a:t>
            </a:r>
            <a:r>
              <a:rPr lang="en-US" dirty="0"/>
              <a:t> → smooth region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74F927-6CAB-483C-2027-CE01CC5A0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D892778-61DB-C6CE-0EC3-99FB8B146CC8}"/>
              </a:ext>
            </a:extLst>
          </p:cNvPr>
          <p:cNvSpPr/>
          <p:nvPr/>
        </p:nvSpPr>
        <p:spPr>
          <a:xfrm>
            <a:off x="13938069" y="478536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B5583733-2D0E-874F-2DB6-92683A58EBC4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248438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53B4E0-6A0C-A9B7-ADE5-D2EFAE0B5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347" y="662766"/>
            <a:ext cx="16770354" cy="1767417"/>
          </a:xfrm>
        </p:spPr>
        <p:txBody>
          <a:bodyPr>
            <a:normAutofit fontScale="90000"/>
          </a:bodyPr>
          <a:lstStyle/>
          <a:p>
            <a:br>
              <a:rPr lang="fr-FR"/>
            </a:br>
            <a:br>
              <a:rPr lang="fr-FR"/>
            </a:br>
            <a:br>
              <a:rPr lang="fr-FR"/>
            </a:br>
            <a:br>
              <a:rPr lang="fr-FR"/>
            </a:br>
            <a:br>
              <a:rPr lang="fr-FR"/>
            </a:br>
            <a:br>
              <a:rPr lang="fr-FR"/>
            </a:br>
            <a:br>
              <a:rPr lang="fr-FR"/>
            </a:br>
            <a:r>
              <a:rPr lang="fr-FR"/>
              <a:t>Non-Maximum Suppression (NMS)</a:t>
            </a:r>
            <a:br>
              <a:rPr lang="fr-FR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4EF40-1A8B-EE0B-ED1B-D023BF768C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15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A3C9B-F9E9-CB12-6876-5F7F37D0F3F7}"/>
              </a:ext>
            </a:extLst>
          </p:cNvPr>
          <p:cNvSpPr txBox="1"/>
          <p:nvPr/>
        </p:nvSpPr>
        <p:spPr>
          <a:xfrm>
            <a:off x="260347" y="2430183"/>
            <a:ext cx="1186131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Non-Maximum Suppression is a step in edge detection (especially in the </a:t>
            </a:r>
            <a:r>
              <a:rPr lang="en-US" sz="2800" b="1" dirty="0"/>
              <a:t>Canny algorithm</a:t>
            </a:r>
            <a:r>
              <a:rPr lang="en-US" sz="2800" dirty="0"/>
              <a:t>) used to </a:t>
            </a:r>
            <a:r>
              <a:rPr lang="en-US" sz="2800" b="1" dirty="0"/>
              <a:t>thin edges</a:t>
            </a:r>
            <a:r>
              <a:rPr lang="en-US" sz="2800" dirty="0"/>
              <a:t> and keep only the most important pixels.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7924E6-12B9-6312-A415-C69F5BB8D5D5}"/>
                  </a:ext>
                </a:extLst>
              </p:cNvPr>
              <p:cNvSpPr txBox="1"/>
              <p:nvPr/>
            </p:nvSpPr>
            <p:spPr>
              <a:xfrm>
                <a:off x="260346" y="3815178"/>
                <a:ext cx="12283345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800" b="1" dirty="0"/>
                  <a:t>How It Works</a:t>
                </a:r>
              </a:p>
              <a:p>
                <a:pPr>
                  <a:buNone/>
                </a:pPr>
                <a:r>
                  <a:rPr lang="en-US" sz="2800" dirty="0"/>
                  <a:t>For each pixel: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800" dirty="0"/>
                  <a:t>Compute: 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800" dirty="0"/>
                  <a:t>Gradient magnitude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US" sz="2800" i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800" i="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endParaRPr lang="en-US" sz="28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800" dirty="0"/>
                  <a:t>Gradient direction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2800" dirty="0"/>
              </a:p>
              <a:p>
                <a:pPr>
                  <a:buFont typeface="+mj-lt"/>
                  <a:buAutoNum type="arabicPeriod"/>
                </a:pPr>
                <a:r>
                  <a:rPr lang="en-US" sz="2800" dirty="0"/>
                  <a:t>Compare the pixel with </a:t>
                </a:r>
                <a:r>
                  <a:rPr lang="en-US" sz="2800" b="1" dirty="0"/>
                  <a:t>two neighbors along the gradient direction</a:t>
                </a:r>
                <a:r>
                  <a:rPr lang="en-US" sz="2800" dirty="0"/>
                  <a:t> 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800" dirty="0"/>
                  <a:t>Decision: 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800" dirty="0"/>
                  <a:t>If pixel is </a:t>
                </a:r>
                <a:r>
                  <a:rPr lang="en-US" sz="2800" b="1" dirty="0"/>
                  <a:t>maximum</a:t>
                </a:r>
                <a:r>
                  <a:rPr lang="en-US" sz="2800" dirty="0"/>
                  <a:t> → keep it 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sz="2800" dirty="0"/>
                  <a:t>Else → set to 0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7924E6-12B9-6312-A415-C69F5BB8D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46" y="3815178"/>
                <a:ext cx="12283345" cy="3970318"/>
              </a:xfrm>
              <a:prstGeom prst="rect">
                <a:avLst/>
              </a:prstGeom>
              <a:blipFill>
                <a:blip r:embed="rId2"/>
                <a:stretch>
                  <a:fillRect l="-1042" t="-1690" b="-3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114A0F0-E823-8DD3-14CD-995EC10FA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EB27145-2EE8-4B60-B563-B13231B92911}"/>
              </a:ext>
            </a:extLst>
          </p:cNvPr>
          <p:cNvSpPr/>
          <p:nvPr/>
        </p:nvSpPr>
        <p:spPr>
          <a:xfrm>
            <a:off x="13938069" y="507492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5D4F14-CFEA-4B21-E638-28ECCBC6F9A9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24784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6EE8-EDC0-84FD-8E24-DF6B60DA0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Thresholding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70C14-2843-A16D-EA92-484A396B57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16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0D1BE6-5EC0-313C-8F3C-9F460F308898}"/>
              </a:ext>
            </a:extLst>
          </p:cNvPr>
          <p:cNvSpPr txBox="1"/>
          <p:nvPr/>
        </p:nvSpPr>
        <p:spPr>
          <a:xfrm>
            <a:off x="260346" y="2492328"/>
            <a:ext cx="118847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Double Thresholding is used to </a:t>
            </a:r>
            <a:r>
              <a:rPr lang="en-US" sz="2400" b="1" dirty="0"/>
              <a:t>classify edges</a:t>
            </a:r>
            <a:r>
              <a:rPr lang="en-US" sz="2400" dirty="0"/>
              <a:t> into strong, weak, and non-edges after Non-Maximum Suppression.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2E4AF4-CFD1-7844-0E8E-2BFB44037F7C}"/>
              </a:ext>
            </a:extLst>
          </p:cNvPr>
          <p:cNvSpPr txBox="1"/>
          <p:nvPr/>
        </p:nvSpPr>
        <p:spPr>
          <a:xfrm>
            <a:off x="7302013" y="3728956"/>
            <a:ext cx="58653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Use </a:t>
            </a:r>
            <a:r>
              <a:rPr lang="en-US" sz="2400" b="1" dirty="0"/>
              <a:t>two thresholds</a:t>
            </a:r>
            <a:r>
              <a:rPr lang="en-U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High Threshold (Tₕ)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Low Threshold (Tₗ)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A81EA2-C6FF-8497-A48F-AA3D3F3BBF35}"/>
                  </a:ext>
                </a:extLst>
              </p:cNvPr>
              <p:cNvSpPr txBox="1"/>
              <p:nvPr/>
            </p:nvSpPr>
            <p:spPr>
              <a:xfrm>
                <a:off x="260346" y="3713716"/>
                <a:ext cx="9214338" cy="3816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200" b="1" dirty="0"/>
                  <a:t>🔸 Strong Edge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200" i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ar-AE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22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ar-AE" sz="2200" dirty="0"/>
              </a:p>
              <a:p>
                <a:pPr>
                  <a:buNone/>
                </a:pPr>
                <a:r>
                  <a:rPr lang="ar-AE" sz="2200" dirty="0"/>
                  <a:t>→ </a:t>
                </a:r>
                <a:r>
                  <a:rPr lang="en-US" sz="2200" dirty="0"/>
                  <a:t>Definitely an edge (keep it)</a:t>
                </a:r>
                <a:br>
                  <a:rPr lang="en-US" sz="2200" dirty="0"/>
                </a:br>
                <a:endParaRPr lang="en-US" sz="2200" dirty="0"/>
              </a:p>
              <a:p>
                <a:pPr>
                  <a:buNone/>
                </a:pPr>
                <a:r>
                  <a:rPr lang="en-US" sz="2200" b="1" dirty="0"/>
                  <a:t>🔸 Weak Edge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2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ar-AE" sz="2200" i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22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ar-AE" sz="2200" i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ar-AE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22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ar-AE" sz="2200" dirty="0"/>
              </a:p>
              <a:p>
                <a:pPr>
                  <a:buNone/>
                </a:pPr>
                <a:r>
                  <a:rPr lang="ar-AE" sz="2200" dirty="0"/>
                  <a:t>→ </a:t>
                </a:r>
                <a:r>
                  <a:rPr lang="en-US" sz="2200" dirty="0"/>
                  <a:t>Might be an edge (keep for now)</a:t>
                </a:r>
              </a:p>
              <a:p>
                <a:pPr>
                  <a:buNone/>
                </a:pPr>
                <a:endParaRPr lang="en-US" sz="2200" dirty="0"/>
              </a:p>
              <a:p>
                <a:pPr>
                  <a:buNone/>
                </a:pPr>
                <a:r>
                  <a:rPr lang="en-US" sz="2200" b="1" dirty="0"/>
                  <a:t>🔸 Non-Edge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200" i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ar-AE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22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ar-AE" sz="2200" dirty="0"/>
              </a:p>
              <a:p>
                <a:pPr>
                  <a:buNone/>
                </a:pPr>
                <a:r>
                  <a:rPr lang="ar-AE" sz="2200" dirty="0"/>
                  <a:t>→ </a:t>
                </a:r>
                <a:r>
                  <a:rPr lang="en-US" sz="2200" dirty="0"/>
                  <a:t>Not an edge (discard)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A81EA2-C6FF-8497-A48F-AA3D3F3BB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46" y="3713716"/>
                <a:ext cx="9214338" cy="3816429"/>
              </a:xfrm>
              <a:prstGeom prst="rect">
                <a:avLst/>
              </a:prstGeom>
              <a:blipFill>
                <a:blip r:embed="rId2"/>
                <a:stretch>
                  <a:fillRect l="-927" t="-958" b="-2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2F0B7D9-F4DB-DCAB-C612-B09116909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FF28EF1-BB10-A18A-6724-AEDCA34A0202}"/>
              </a:ext>
            </a:extLst>
          </p:cNvPr>
          <p:cNvSpPr/>
          <p:nvPr/>
        </p:nvSpPr>
        <p:spPr>
          <a:xfrm>
            <a:off x="13938069" y="534924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2E48BBE0-3505-9CFC-1BC3-0920353AE6F6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4164393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20411F-1F6F-6D26-CEE1-9D8D250FB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 Tracking (Hysteresis)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BF850-A21C-8BBB-8803-D830332134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17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AD0F9D-165D-EBC9-E8AE-88F3C1CC0B3A}"/>
              </a:ext>
            </a:extLst>
          </p:cNvPr>
          <p:cNvSpPr txBox="1"/>
          <p:nvPr/>
        </p:nvSpPr>
        <p:spPr>
          <a:xfrm>
            <a:off x="260346" y="2562666"/>
            <a:ext cx="121802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Edge Tracking by Hysteresis is the final step in edge detection that decides which weak edges are real edges and which are noise.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5681BB-C806-239E-9258-4136E0E7E168}"/>
              </a:ext>
            </a:extLst>
          </p:cNvPr>
          <p:cNvSpPr txBox="1"/>
          <p:nvPr/>
        </p:nvSpPr>
        <p:spPr>
          <a:xfrm>
            <a:off x="260346" y="3518821"/>
            <a:ext cx="921433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How It Works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800" dirty="0"/>
              <a:t>For each </a:t>
            </a:r>
            <a:r>
              <a:rPr lang="en-US" sz="2800" b="1" dirty="0"/>
              <a:t>weak edge pixel</a:t>
            </a:r>
            <a:r>
              <a:rPr lang="en-US" sz="2800" dirty="0"/>
              <a:t>: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Check its </a:t>
            </a:r>
            <a:r>
              <a:rPr lang="en-US" sz="2800" b="1" dirty="0"/>
              <a:t>8-connected neighborhood</a:t>
            </a:r>
            <a:r>
              <a:rPr lang="en-US" sz="2800" dirty="0"/>
              <a:t> (surrounding pixels) 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If at least one neighbor is a </a:t>
            </a:r>
            <a:r>
              <a:rPr lang="en-US" sz="2800" b="1" dirty="0"/>
              <a:t>strong edge</a:t>
            </a:r>
            <a:r>
              <a:rPr lang="en-US" sz="2800" dirty="0"/>
              <a:t>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Keep it as an edge 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Otherwise: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/>
              <a:t>Suppress it (set to 0)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79C34F-A1B5-B9D2-DFED-FC59BA42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5222D1-56C5-56BB-89A7-26BC7C9EB502}"/>
              </a:ext>
            </a:extLst>
          </p:cNvPr>
          <p:cNvSpPr/>
          <p:nvPr/>
        </p:nvSpPr>
        <p:spPr>
          <a:xfrm>
            <a:off x="13938069" y="566928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265795-7EC6-4FE0-1EDE-C5CB33BB27C2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4214100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831594-62A7-3448-E4BC-5E4B0122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A1A1A"/>
                </a:solidFill>
              </a:rPr>
              <a:t>Hysteresis Tracking Logic: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40AAC-7080-B905-DEF2-F48FD74C9D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18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B1B5FD-F332-98E4-9DAD-9A8ACCAB9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47" y="3429482"/>
            <a:ext cx="13394694" cy="28621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901ABB-0054-1BDF-E1E1-5B1F26BDF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84BB834-968E-0758-3DFE-D5AF67893771}"/>
              </a:ext>
            </a:extLst>
          </p:cNvPr>
          <p:cNvSpPr/>
          <p:nvPr/>
        </p:nvSpPr>
        <p:spPr>
          <a:xfrm>
            <a:off x="13938069" y="595884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34CE21EF-AFF9-624F-64B0-9B91E30FF2C8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45186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5AEE36-31A7-2FEF-1804-1E29A1C7B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 Issues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08EA9-76EC-6B17-3152-B9FACB9E17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19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B7AA80-2C8C-780F-5DF2-DB3D3216F7F2}"/>
                  </a:ext>
                </a:extLst>
              </p:cNvPr>
              <p:cNvSpPr txBox="1"/>
              <p:nvPr/>
            </p:nvSpPr>
            <p:spPr>
              <a:xfrm>
                <a:off x="260346" y="2560857"/>
                <a:ext cx="11368946" cy="35394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800" b="1" dirty="0"/>
                  <a:t>Definition</a:t>
                </a:r>
              </a:p>
              <a:p>
                <a:pPr>
                  <a:buNone/>
                </a:pPr>
                <a:r>
                  <a:rPr lang="en-US" sz="2800" dirty="0"/>
                  <a:t>Scale refers to the level of detail at which edges are detected.</a:t>
                </a:r>
              </a:p>
              <a:p>
                <a:pPr>
                  <a:buNone/>
                </a:pPr>
                <a:endParaRPr lang="en-US" sz="2800" dirty="0"/>
              </a:p>
              <a:p>
                <a:pPr>
                  <a:buNone/>
                </a:pPr>
                <a:r>
                  <a:rPr lang="en-US" sz="2800" b="1" dirty="0"/>
                  <a:t>Mathematical Insight</a:t>
                </a:r>
              </a:p>
              <a:p>
                <a:pPr>
                  <a:buNone/>
                </a:pPr>
                <a:r>
                  <a:rPr lang="en-US" sz="2800" dirty="0"/>
                  <a:t>Controlled by Gaussian: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sepChr m:val=","/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ar-AE" sz="28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Small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800" dirty="0"/>
                  <a:t>→ fine details + noise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Large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800" dirty="0"/>
                  <a:t>→ smooth image, fewer edges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B7AA80-2C8C-780F-5DF2-DB3D3216F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46" y="2560857"/>
                <a:ext cx="11368946" cy="3539430"/>
              </a:xfrm>
              <a:prstGeom prst="rect">
                <a:avLst/>
              </a:prstGeom>
              <a:blipFill>
                <a:blip r:embed="rId2"/>
                <a:stretch>
                  <a:fillRect l="-1126" t="-1721" b="-3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99CB33B-BE09-B3D7-1383-34ABDE267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47" y="6300731"/>
            <a:ext cx="13455654" cy="17674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C16C8F-F8D5-A408-06CF-B99530714D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91686E-D47F-061F-364D-60F477D779B6}"/>
              </a:ext>
            </a:extLst>
          </p:cNvPr>
          <p:cNvSpPr/>
          <p:nvPr/>
        </p:nvSpPr>
        <p:spPr>
          <a:xfrm>
            <a:off x="13938069" y="655320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A871D4-4DAB-9FCD-267B-445846858D1E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738418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A73F7D-F815-D5E4-04B3-93A8C6DBB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Thresholding Issues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A5D84-A717-4CCE-7EF5-1F28AA7C21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20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B77D4D-9FF5-6694-B855-2A2845968DE3}"/>
                  </a:ext>
                </a:extLst>
              </p:cNvPr>
              <p:cNvSpPr txBox="1"/>
              <p:nvPr/>
            </p:nvSpPr>
            <p:spPr>
              <a:xfrm>
                <a:off x="260346" y="2444908"/>
                <a:ext cx="9212238" cy="5262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800" b="1" dirty="0"/>
                  <a:t>Definition</a:t>
                </a:r>
              </a:p>
              <a:p>
                <a:pPr>
                  <a:buNone/>
                </a:pPr>
                <a:r>
                  <a:rPr lang="en-US" sz="2800" dirty="0"/>
                  <a:t>Thresholding decides which gradient values represent edges.</a:t>
                </a:r>
              </a:p>
              <a:p>
                <a:pPr>
                  <a:buNone/>
                </a:pPr>
                <a:endParaRPr lang="en-US" sz="2800" dirty="0"/>
              </a:p>
              <a:p>
                <a:pPr>
                  <a:buNone/>
                </a:pPr>
                <a:r>
                  <a:rPr lang="en-US" sz="2800" b="1" dirty="0"/>
                  <a:t>Mathematical Form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/>
                        <m:t>Edge</m:t>
                      </m:r>
                      <m:r>
                        <m:rPr>
                          <m:nor/>
                        </m:rPr>
                        <a:rPr lang="en-US" sz="2800" b="0" i="1"/>
                        <m:t> </m:t>
                      </m:r>
                      <m:r>
                        <m:rPr>
                          <m:nor/>
                        </m:rPr>
                        <a:rPr lang="en-US" sz="2800" b="0" i="1"/>
                        <m:t>if</m:t>
                      </m:r>
                      <m:r>
                        <m:rPr>
                          <m:nor/>
                        </m:rPr>
                        <a:rPr lang="en-US" sz="2800" b="0" i="1"/>
                        <m:t> </m:t>
                      </m:r>
                      <m:r>
                        <a:rPr lang="en-US" sz="2800" b="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sepChr m:val=","/>
                          <m:ctrlPr>
                            <a:rPr lang="ar-AE" sz="2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sz="2800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 sz="2800" b="0" i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ar-AE" sz="2800" b="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800" b="0" dirty="0"/>
              </a:p>
              <a:p>
                <a:pPr>
                  <a:buNone/>
                </a:pPr>
                <a:endParaRPr lang="ar-AE" sz="2800" b="0" dirty="0"/>
              </a:p>
              <a:p>
                <a:pPr>
                  <a:buNone/>
                </a:pPr>
                <a:r>
                  <a:rPr lang="en-US" sz="2800" b="1" dirty="0"/>
                  <a:t>Problems</a:t>
                </a:r>
              </a:p>
              <a:p>
                <a:pPr>
                  <a:buNone/>
                </a:pPr>
                <a:endParaRPr lang="en-US" sz="2800" b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→ too many edges (noise)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High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→ missing edges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B77D4D-9FF5-6694-B855-2A2845968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46" y="2444908"/>
                <a:ext cx="9212238" cy="5262979"/>
              </a:xfrm>
              <a:prstGeom prst="rect">
                <a:avLst/>
              </a:prstGeom>
              <a:blipFill>
                <a:blip r:embed="rId2"/>
                <a:stretch>
                  <a:fillRect l="-1390" t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B69537-A68C-C698-1FBE-9750ADA8C2BA}"/>
                  </a:ext>
                </a:extLst>
              </p:cNvPr>
              <p:cNvSpPr txBox="1"/>
              <p:nvPr/>
            </p:nvSpPr>
            <p:spPr>
              <a:xfrm>
                <a:off x="5807123" y="7274807"/>
                <a:ext cx="921223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/>
                  <a:t>Solution (Canny)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ar-AE" sz="2400" i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ar-AE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Uses dual thresholds for better accuracy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B69537-A68C-C698-1FBE-9750ADA8C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123" y="7274807"/>
                <a:ext cx="9212238" cy="1200329"/>
              </a:xfrm>
              <a:prstGeom prst="rect">
                <a:avLst/>
              </a:prstGeom>
              <a:blipFill>
                <a:blip r:embed="rId3"/>
                <a:stretch>
                  <a:fillRect l="-1059" t="-3553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DF40668-7372-2B7D-FF9F-215969B5A0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5F88F4-5F22-8173-61F9-BDB197883D21}"/>
              </a:ext>
            </a:extLst>
          </p:cNvPr>
          <p:cNvSpPr/>
          <p:nvPr/>
        </p:nvSpPr>
        <p:spPr>
          <a:xfrm>
            <a:off x="13938069" y="682752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77BB76-6FBF-9F2F-8957-667245D5F587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32524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F8B5AF-A33E-122A-750A-6CF351DDE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Thresholding Problems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ACC7E-166B-CB31-7B2A-C43BCBE5D7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21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88F313-91F2-16AC-D5A3-6D66C01A5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46" y="2743200"/>
            <a:ext cx="13665419" cy="42444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84BC5B-1202-317D-5C34-48CA49479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8404EE7-A532-E6CE-61BB-C7F1E7567C74}"/>
              </a:ext>
            </a:extLst>
          </p:cNvPr>
          <p:cNvSpPr/>
          <p:nvPr/>
        </p:nvSpPr>
        <p:spPr>
          <a:xfrm>
            <a:off x="13938069" y="713232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9DC46122-0C39-4AE8-58B2-A935DDBCC8E3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673695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2002F-AA64-7763-C197-6C369DCC6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1E6FDC-9BBE-6F20-F330-0B3F29605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Trying to tune </a:t>
            </a:r>
            <a:r>
              <a:rPr lang="en-US" dirty="0" err="1"/>
              <a:t>T_Low</a:t>
            </a:r>
            <a:r>
              <a:rPr lang="en-US" dirty="0"/>
              <a:t> and </a:t>
            </a:r>
            <a:r>
              <a:rPr lang="en-US" dirty="0" err="1"/>
              <a:t>T_High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2088C-7587-E7FE-B865-6DA0A47F26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22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BB7BA-5584-20E5-EB09-C3A865826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769" y="2811691"/>
            <a:ext cx="11298227" cy="4953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A6E96A-4B75-1183-D593-8C6C28940D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5399" y="0"/>
            <a:ext cx="4248727" cy="9144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2C4EBA-6FE1-FF52-2DFC-0ADF23C309B2}"/>
              </a:ext>
            </a:extLst>
          </p:cNvPr>
          <p:cNvSpPr/>
          <p:nvPr/>
        </p:nvSpPr>
        <p:spPr>
          <a:xfrm>
            <a:off x="13938069" y="7421885"/>
            <a:ext cx="4389118" cy="3135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FC7868AD-0FBD-7D66-5E28-415E940A1773}"/>
              </a:ext>
            </a:extLst>
          </p:cNvPr>
          <p:cNvSpPr txBox="1"/>
          <p:nvPr/>
        </p:nvSpPr>
        <p:spPr>
          <a:xfrm>
            <a:off x="14039272" y="-87086"/>
            <a:ext cx="4248728" cy="9144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21920" tIns="60960" rIns="121920" bIns="60960" anchor="ctr" anchorCtr="0" compatLnSpc="1">
            <a:noAutofit/>
          </a:bodyPr>
          <a:lstStyle/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Introduction</a:t>
            </a:r>
            <a:endParaRPr lang="en-US" sz="1600" kern="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What is an Edge?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Image Gradient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Derivatives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Second Derivative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First Vs Second Derivative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Detection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Kernels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Prewitt Operators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Sobel vs Prewitt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Canny Edge Detector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Overview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Gaussian Smoothing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Gradient Calculation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Non-Maximum Suppression (NMS)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Double Thresholding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Edge Tracking (Hysteresis)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Hysteresis Tracking Logic</a:t>
            </a:r>
          </a:p>
          <a:p>
            <a:pPr marL="304792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Practical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Scale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Thresholding Issues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Common Thresholding Problems</a:t>
            </a: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Choosing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T_low</a:t>
            </a:r>
            <a:r>
              <a:rPr lang="en-US" sz="1600" dirty="0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 and </a:t>
            </a:r>
            <a:r>
              <a:rPr lang="en-US" sz="1600" dirty="0" err="1">
                <a:solidFill>
                  <a:srgbClr val="FFFFFF"/>
                </a:solidFill>
                <a:latin typeface="Abadi MT Condensed Light" pitchFamily="34"/>
                <a:cs typeface="Arial Narrow" pitchFamily="34"/>
              </a:rPr>
              <a:t>T_high</a:t>
            </a: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609585" lvl="1" defTabSz="1219170">
              <a:spcBef>
                <a:spcPts val="400"/>
              </a:spcBef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  <a:p>
            <a:pPr marL="914377" lvl="1" indent="-304792" defTabSz="1219170">
              <a:spcBef>
                <a:spcPts val="400"/>
              </a:spcBef>
              <a:buSzPct val="100000"/>
              <a:buFont typeface="Aptos Display"/>
              <a:buAutoNum type="arabicPeriod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dirty="0">
              <a:solidFill>
                <a:srgbClr val="FFFFFF"/>
              </a:solidFill>
              <a:latin typeface="Abadi MT Condensed Light" pitchFamily="34"/>
              <a:cs typeface="Arial Narrow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377705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2E430-261C-3F9C-E750-22595722EB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|   </a:t>
            </a:r>
            <a:fld id="{00000000-1234-1234-1234-123412341234}" type="slidenum">
              <a:rPr lang="en-US" smtClean="0"/>
              <a:pPr/>
              <a:t>23</a:t>
            </a:fld>
            <a:endParaRPr/>
          </a:p>
        </p:txBody>
      </p:sp>
      <p:pic>
        <p:nvPicPr>
          <p:cNvPr id="4098" name="Picture 2" descr="Rainbow SpongeBob Meme Generator">
            <a:extLst>
              <a:ext uri="{FF2B5EF4-FFF2-40B4-BE49-F238E27FC236}">
                <a16:creationId xmlns:a16="http://schemas.microsoft.com/office/drawing/2014/main" id="{A3AEF305-381F-757B-5981-2976DBAEF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61" y="316454"/>
            <a:ext cx="13655040" cy="8511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0244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2368</Words>
  <Application>Microsoft Office PowerPoint</Application>
  <PresentationFormat>Custom</PresentationFormat>
  <Paragraphs>681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Abadi MT Condensed Light</vt:lpstr>
      <vt:lpstr>Aptos Display</vt:lpstr>
      <vt:lpstr>Arial</vt:lpstr>
      <vt:lpstr>Calibri</vt:lpstr>
      <vt:lpstr>Cambria Math</vt:lpstr>
      <vt:lpstr>Consolas</vt:lpstr>
      <vt:lpstr>Fira Sans Extra Condensed Medium</vt:lpstr>
      <vt:lpstr>Wingdings</vt:lpstr>
      <vt:lpstr>Office Theme</vt:lpstr>
      <vt:lpstr>PowerPoint Presentation</vt:lpstr>
      <vt:lpstr>PowerPoint Presentation</vt:lpstr>
      <vt:lpstr>Learning Outcomes </vt:lpstr>
      <vt:lpstr>What is an Edge?</vt:lpstr>
      <vt:lpstr>Image Gradient</vt:lpstr>
      <vt:lpstr>1st Derivative</vt:lpstr>
      <vt:lpstr>2nd Derivative</vt:lpstr>
      <vt:lpstr>1st Vs 2nd Derivative</vt:lpstr>
      <vt:lpstr>Sobel Kernels</vt:lpstr>
      <vt:lpstr>Prewitt Operator</vt:lpstr>
      <vt:lpstr>Sobel vs Prewitt Operator</vt:lpstr>
      <vt:lpstr>Canny Edge Detector</vt:lpstr>
      <vt:lpstr> Gaussian Smoothing</vt:lpstr>
      <vt:lpstr>Gradient Calculation</vt:lpstr>
      <vt:lpstr>       Non-Maximum Suppression (NMS) </vt:lpstr>
      <vt:lpstr>Double Thresholding</vt:lpstr>
      <vt:lpstr>Edge Tracking (Hysteresis)</vt:lpstr>
      <vt:lpstr>Hysteresis Tracking Logic:</vt:lpstr>
      <vt:lpstr>Scale Issues</vt:lpstr>
      <vt:lpstr>Thresholding Issues</vt:lpstr>
      <vt:lpstr>Common Thresholding Problems</vt:lpstr>
      <vt:lpstr>Trying to tune T_Low and T_High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shailshree</dc:creator>
  <cp:lastModifiedBy>Shailshree Shah</cp:lastModifiedBy>
  <cp:revision>77</cp:revision>
  <dcterms:modified xsi:type="dcterms:W3CDTF">2026-03-25T08:57:45Z</dcterms:modified>
</cp:coreProperties>
</file>